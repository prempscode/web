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25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8A8210-85A7-45AD-BB73-DBB78515E241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80F9E5-4053-43AF-8340-15B198F84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524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02BA6-6BAF-4C2B-6997-A25EBD5C3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9458CD-92DC-A3B7-20EC-47AEA625D3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8AEB6-41A8-38AC-721A-D620CFF46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D950-E576-47F4-9575-118A0CF6BFA2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CE46C-ED3D-0A7D-A4BA-4A766D62E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026F6-1D5C-4D31-0E26-3D9450B71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50321-72A7-4001-8933-6475A6D733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915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8D72B-51D3-D97A-B743-BF8639C34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20D0C-1EDA-1910-BE8C-3C5BD33BB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89043-BE4D-6A9F-2FD9-DB1192493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D950-E576-47F4-9575-118A0CF6BFA2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93086-730E-A4E1-0069-6AC2FD4CA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3E032-FCBE-5610-8F8E-636136608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50321-72A7-4001-8933-6475A6D733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959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6C0F0-6CDD-C258-4C46-F5135C06A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7198A-FC9F-26D5-320F-EB708BFC9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C90B6-640C-E855-1471-9C82044A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D950-E576-47F4-9575-118A0CF6BFA2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9630D-A992-D4BF-89F8-50B7EE5B8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47FF5-6386-9ED1-AAEC-847622FB5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50321-72A7-4001-8933-6475A6D733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786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FC39-D9FA-5761-B691-39A47978C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34527-AF8D-CE7C-F92D-A3C41FC1D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9DAF2-6CF9-4F40-C99A-D10037A61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C42AE-4090-5B2F-F4C6-3EBFCAE29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D950-E576-47F4-9575-118A0CF6BFA2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568D5F-BF6F-6AF1-2A0A-082AA4624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1588D-FF23-8564-704E-76C3039EA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50321-72A7-4001-8933-6475A6D733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416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E08A6-22B1-CA2B-E53B-A641F079A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36A67-CC97-47DD-8B72-45F1FFD87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FEA72D-B492-E404-94A2-906FA44D8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82BA85-E123-7C0A-ED77-F6120051CC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1A567D-3B5C-EC98-1189-107C8BD801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15FE63-9F95-3EC9-21F0-A5D7ECAE0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D950-E576-47F4-9575-118A0CF6BFA2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F07BA1-FEC7-09EB-CF4C-0D59700F7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549A81-CF99-8F77-9661-15DDE496D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50321-72A7-4001-8933-6475A6D733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111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4C523-0874-7D50-B04C-D676D50FA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D4C2D1-17C0-E783-D46B-8A754DA5C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D950-E576-47F4-9575-118A0CF6BFA2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D2F268-6B72-C0B1-D1E9-F6102ADBA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56526-F96A-6D1B-77F5-0AC3FE514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50321-72A7-4001-8933-6475A6D733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1051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DDDF72-16B9-2112-89B5-F98A414A5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D950-E576-47F4-9575-118A0CF6BFA2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CB02A8-F91D-20B1-0998-92A168656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97854-0109-7C64-E34C-035A6F147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50321-72A7-4001-8933-6475A6D733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61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15C9F-AF11-00C2-A906-815213EC1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905BB-0A7F-7A3D-61A7-7AA58AA8E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0FDC80-3B4C-B6D6-49E1-253D848A9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63B549-72AC-11E3-309D-B919AB28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D950-E576-47F4-9575-118A0CF6BFA2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53A161-3FC8-E465-51AF-E372F9BDC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BBB8D6-6007-D4FE-08E2-8291CE6B1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50321-72A7-4001-8933-6475A6D733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462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72168-7B07-F9DF-7C5E-EA4A0004C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0EBFD8-D6B6-C93C-1F57-373ECB1FC5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C1689F-F5B8-EDDB-0750-0F870D4CD4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DD25E-E0CD-ECF7-CF0F-768324554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D950-E576-47F4-9575-118A0CF6BFA2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477E7-7A3F-B46C-E6A0-5922E8B5A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98601-B8B1-9113-EB1B-CD597A019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50321-72A7-4001-8933-6475A6D733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401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6BD9F-C30B-77F9-FC3B-790A0EFD6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D90908-C9F0-B75F-7EE8-9EAA1869DD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B25BA-2CAE-6B86-7789-2880E72D5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D950-E576-47F4-9575-118A0CF6BFA2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9A1F5-2F13-86BD-185B-65FA14DC8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E124A-128A-1A2C-2646-105628D1E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50321-72A7-4001-8933-6475A6D733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142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69C8EF-EC54-CFCD-3EF6-928097170B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D3B8BC-A2A2-966C-2A10-4C9835147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1D920-8208-E0B1-BD72-57ECE5EFF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D950-E576-47F4-9575-118A0CF6BFA2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43353-F244-9024-11AB-23D5C6613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70117-94CA-8EA0-B902-B61060340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50321-72A7-4001-8933-6475A6D733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766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9447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4A6234-712A-C859-BB79-B8F4A3894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3D14D-5158-59EF-A9D0-6AC361BE6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E40E0-24BD-BE48-73BF-40173E4728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ED950-E576-47F4-9575-118A0CF6BFA2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E3EB8-CD83-9036-3674-0590A3B4BE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C5E9A-E191-0B8F-E41D-C3D6054F03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50321-72A7-4001-8933-6475A6D733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128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5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38400"/>
            <a:ext cx="146304" cy="18288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58240" y="2316480"/>
            <a:ext cx="1011936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067" b="1" dirty="0">
                <a:solidFill>
                  <a:srgbClr val="FFFFFF"/>
                </a:solidFill>
              </a:rPr>
              <a:t>HTML</a:t>
            </a:r>
            <a:endParaRPr lang="en-US" sz="5067" dirty="0"/>
          </a:p>
        </p:txBody>
      </p:sp>
      <p:sp>
        <p:nvSpPr>
          <p:cNvPr id="4" name="Text 2"/>
          <p:cNvSpPr txBox="1"/>
          <p:nvPr/>
        </p:nvSpPr>
        <p:spPr>
          <a:xfrm>
            <a:off x="1158240" y="3313355"/>
            <a:ext cx="101193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2D3EE"/>
                </a:solidFill>
              </a:rPr>
              <a:t>Part 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58240" y="5608320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94A3B8"/>
                </a:solidFill>
              </a:rPr>
              <a:t>Web Development Series | Part 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5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38400"/>
            <a:ext cx="146304" cy="18288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58240" y="2316480"/>
            <a:ext cx="1011936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067" b="1" dirty="0">
                <a:solidFill>
                  <a:srgbClr val="FFFFFF"/>
                </a:solidFill>
              </a:rPr>
              <a:t>Topics</a:t>
            </a:r>
            <a:endParaRPr lang="en-US" sz="5067" dirty="0"/>
          </a:p>
        </p:txBody>
      </p:sp>
      <p:sp>
        <p:nvSpPr>
          <p:cNvPr id="4" name="Text 2"/>
          <p:cNvSpPr txBox="1"/>
          <p:nvPr/>
        </p:nvSpPr>
        <p:spPr>
          <a:xfrm>
            <a:off x="1158240" y="3718560"/>
            <a:ext cx="101193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2D3EE"/>
                </a:solidFill>
              </a:rPr>
              <a:t>Structure, text, links, images, lists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58240" y="5608320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94A3B8"/>
                </a:solidFill>
              </a:rPr>
              <a:t>Just Go With The Flow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121920"/>
            <a:ext cx="92659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HTML?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631680" y="341376"/>
            <a:ext cx="2072640" cy="414528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0F172A"/>
                </a:solidFill>
              </a:rPr>
              <a:t>Definition</a:t>
            </a:r>
            <a:endParaRPr lang="en-US" sz="1467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40208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133" dirty="0">
                <a:solidFill>
                  <a:srgbClr val="1E293B"/>
                </a:solidFill>
              </a:rPr>
              <a:t>HTML = HyperText Markup Language</a:t>
            </a:r>
            <a:endParaRPr lang="en-US" sz="21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133" dirty="0">
                <a:solidFill>
                  <a:srgbClr val="1E293B"/>
                </a:solidFill>
              </a:rPr>
              <a:t>It is a markup language, not a programming language: it describes the structure of a page</a:t>
            </a:r>
            <a:endParaRPr lang="en-US" sz="21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133" dirty="0">
                <a:solidFill>
                  <a:srgbClr val="1E293B"/>
                </a:solidFill>
              </a:rPr>
              <a:t>Built from tags that the browser reads and displays</a:t>
            </a:r>
            <a:endParaRPr lang="en-US" sz="21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133" dirty="0">
                <a:solidFill>
                  <a:srgbClr val="1E293B"/>
                </a:solidFill>
              </a:rPr>
              <a:t>Body analogy: HTML is the skeleton, CSS is the clothes, JavaScript is the brain</a:t>
            </a:r>
            <a:endParaRPr lang="en-US" sz="21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133" dirty="0">
                <a:solidFill>
                  <a:srgbClr val="1E293B"/>
                </a:solidFill>
              </a:rPr>
              <a:t>Tip: right-click any website, then Inspect, to see its HTML</a:t>
            </a:r>
            <a:endParaRPr lang="en-US" sz="213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121920"/>
            <a:ext cx="92659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and Boilerplate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631680" y="341376"/>
            <a:ext cx="2072640" cy="414528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0F172A"/>
                </a:solidFill>
              </a:rPr>
              <a:t>Video 1</a:t>
            </a:r>
            <a:endParaRPr lang="en-US" sz="1467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402080"/>
            <a:ext cx="5242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733" dirty="0">
                <a:solidFill>
                  <a:srgbClr val="1E293B"/>
                </a:solidFill>
              </a:rPr>
              <a:t>Install VS Code and the Live Server extension</a:t>
            </a:r>
            <a:endParaRPr lang="en-US" sz="17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733" dirty="0">
                <a:solidFill>
                  <a:srgbClr val="1E293B"/>
                </a:solidFill>
              </a:rPr>
              <a:t>Create folder html-course, then file index.html</a:t>
            </a:r>
            <a:endParaRPr lang="en-US" sz="17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733" dirty="0">
                <a:solidFill>
                  <a:srgbClr val="1E293B"/>
                </a:solidFill>
              </a:rPr>
              <a:t>Type ! and press Enter for the boilerplate</a:t>
            </a:r>
            <a:endParaRPr lang="en-US" sz="17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733" dirty="0">
                <a:solidFill>
                  <a:srgbClr val="1E293B"/>
                </a:solidFill>
              </a:rPr>
              <a:t>head = info about the page, body = what users see</a:t>
            </a:r>
            <a:endParaRPr lang="en-US" sz="17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733" dirty="0">
                <a:solidFill>
                  <a:srgbClr val="1E293B"/>
                </a:solidFill>
              </a:rPr>
              <a:t>Always keep the viewport meta tag for mobile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6096000" y="1402080"/>
            <a:ext cx="5486400" cy="4815840"/>
          </a:xfrm>
          <a:prstGeom prst="roundRect">
            <a:avLst>
              <a:gd name="adj" fmla="val 2025"/>
            </a:avLst>
          </a:prstGeom>
          <a:solidFill>
            <a:srgbClr val="0B12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78880" y="152400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lang="en"&gt;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charset="UTF-8" /&gt;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name="viewport"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content="width=device-width,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initial-scale=1.0" /&gt;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&lt;title&gt;My First Page&lt;/title&gt;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&lt;/head&gt;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&lt;body&gt;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Hello World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&lt;/body&gt;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121920"/>
            <a:ext cx="92659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and Paragraphs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631680" y="341376"/>
            <a:ext cx="2072640" cy="414528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0F172A"/>
                </a:solidFill>
              </a:rPr>
              <a:t>Part 1</a:t>
            </a:r>
            <a:endParaRPr lang="en-US" sz="1467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402080"/>
            <a:ext cx="5242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733" dirty="0">
                <a:solidFill>
                  <a:srgbClr val="1E293B"/>
                </a:solidFill>
              </a:rPr>
              <a:t>h1 to h6: six heading levels, h1 is the most important</a:t>
            </a:r>
            <a:endParaRPr lang="en-US" sz="17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733" dirty="0">
                <a:solidFill>
                  <a:srgbClr val="1E293B"/>
                </a:solidFill>
              </a:rPr>
              <a:t>Use only one h1 per page</a:t>
            </a:r>
            <a:endParaRPr lang="en-US" sz="17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733" dirty="0">
                <a:solidFill>
                  <a:srgbClr val="1E293B"/>
                </a:solidFill>
              </a:rPr>
              <a:t>Headings give meaning, not just size</a:t>
            </a:r>
            <a:endParaRPr lang="en-US" sz="17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733" dirty="0">
                <a:solidFill>
                  <a:srgbClr val="1E293B"/>
                </a:solidFill>
              </a:rPr>
              <a:t>p = paragraph, br = line break, hr = horizontal line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6096000" y="1402080"/>
            <a:ext cx="5486400" cy="4815840"/>
          </a:xfrm>
          <a:prstGeom prst="roundRect">
            <a:avLst>
              <a:gd name="adj" fmla="val 2025"/>
            </a:avLst>
          </a:prstGeom>
          <a:solidFill>
            <a:srgbClr val="0B12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78880" y="152400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&lt;h1&gt;Welcome to My Page&lt;/h1&gt;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&lt;h2&gt;About Me&lt;/h2&gt;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&lt;h3&gt;My Skills&lt;/h3&gt;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&lt;p&gt;Hi, I am learning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development.&lt;/p&gt;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&lt;p&gt;Line one&lt;br /&gt;Line two&lt;/p&gt;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&lt;hr /&gt;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121920"/>
            <a:ext cx="92659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Formatting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631680" y="341376"/>
            <a:ext cx="2072640" cy="414528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0F172A"/>
                </a:solidFill>
              </a:rPr>
              <a:t>Video 1</a:t>
            </a:r>
            <a:endParaRPr lang="en-US" sz="1467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402080"/>
            <a:ext cx="5242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733" dirty="0">
                <a:solidFill>
                  <a:srgbClr val="1E293B"/>
                </a:solidFill>
              </a:rPr>
              <a:t>strong = important text, em = emphasized text</a:t>
            </a:r>
            <a:endParaRPr lang="en-US" sz="17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733" dirty="0">
                <a:solidFill>
                  <a:srgbClr val="1E293B"/>
                </a:solidFill>
              </a:rPr>
              <a:t>b and i only change the look, so prefer strong and em</a:t>
            </a:r>
            <a:endParaRPr lang="en-US" sz="17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733" dirty="0">
                <a:solidFill>
                  <a:srgbClr val="1E293B"/>
                </a:solidFill>
              </a:rPr>
              <a:t>sub / sup for small text, mark to highlight, del to strike through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6096000" y="1402080"/>
            <a:ext cx="5486400" cy="4815840"/>
          </a:xfrm>
          <a:prstGeom prst="roundRect">
            <a:avLst>
              <a:gd name="adj" fmla="val 2025"/>
            </a:avLst>
          </a:prstGeom>
          <a:solidFill>
            <a:srgbClr val="0B12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78880" y="152400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&lt;p&gt;This is &lt;strong&gt;important&lt;/strong&gt;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this is &lt;em&gt;emphasized&lt;/em&gt;.&lt;/p&gt;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&lt;p&gt;H&lt;sub&gt;2&lt;/sub&gt;O and x&lt;sup&gt;2&lt;/sup&gt;&lt;/p&gt;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&lt;p&gt;&lt;mark&gt;Highlighted&lt;/mark&gt; and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&lt;del&gt;deleted&lt;/del&gt; text.&lt;/p&gt;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121920"/>
            <a:ext cx="92659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and Images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631680" y="341376"/>
            <a:ext cx="2072640" cy="414528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0F172A"/>
                </a:solidFill>
              </a:rPr>
              <a:t>Video 1</a:t>
            </a:r>
            <a:endParaRPr lang="en-US" sz="1467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402080"/>
            <a:ext cx="5242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733" dirty="0">
                <a:solidFill>
                  <a:srgbClr val="1E293B"/>
                </a:solidFill>
              </a:rPr>
              <a:t>a (anchor) with href = link address</a:t>
            </a:r>
            <a:endParaRPr lang="en-US" sz="17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733" dirty="0">
                <a:solidFill>
                  <a:srgbClr val="1E293B"/>
                </a:solidFill>
              </a:rPr>
              <a:t>target="_blank" opens a new tab</a:t>
            </a:r>
            <a:endParaRPr lang="en-US" sz="17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733" dirty="0">
                <a:solidFill>
                  <a:srgbClr val="1E293B"/>
                </a:solidFill>
              </a:rPr>
              <a:t>img uses src (location) and alt (description). Never skip alt</a:t>
            </a:r>
            <a:endParaRPr lang="en-US" sz="17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733" dirty="0">
                <a:solidFill>
                  <a:srgbClr val="1E293B"/>
                </a:solidFill>
              </a:rPr>
              <a:t>Put img inside a to make a clickable image</a:t>
            </a:r>
            <a:endParaRPr lang="en-US" sz="17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733" dirty="0">
                <a:solidFill>
                  <a:srgbClr val="1E293B"/>
                </a:solidFill>
              </a:rPr>
              <a:t>Wrong file path = broken image icon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6096000" y="1402080"/>
            <a:ext cx="5486400" cy="4815840"/>
          </a:xfrm>
          <a:prstGeom prst="roundRect">
            <a:avLst>
              <a:gd name="adj" fmla="val 2025"/>
            </a:avLst>
          </a:prstGeom>
          <a:solidFill>
            <a:srgbClr val="0B12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78880" y="152400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href="https://google.com"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target="_blank"&gt;Google&lt;/a&gt;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href="about.html"&gt;About&lt;/a&gt;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href="mailto:hi@example.com"&gt;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me&lt;/a&gt;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src="images/photo.jpg"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alt="A photo of me"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width="300" /&gt;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121920"/>
            <a:ext cx="92659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631680" y="341376"/>
            <a:ext cx="2072640" cy="414528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0F172A"/>
                </a:solidFill>
              </a:rPr>
              <a:t>Video 1</a:t>
            </a:r>
            <a:endParaRPr lang="en-US" sz="1467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402080"/>
            <a:ext cx="5242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733" dirty="0">
                <a:solidFill>
                  <a:srgbClr val="1E293B"/>
                </a:solidFill>
              </a:rPr>
              <a:t>ul = unordered list (bullets)</a:t>
            </a:r>
            <a:endParaRPr lang="en-US" sz="17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733" dirty="0">
                <a:solidFill>
                  <a:srgbClr val="1E293B"/>
                </a:solidFill>
              </a:rPr>
              <a:t>ol = ordered list (numbers)</a:t>
            </a:r>
            <a:endParaRPr lang="en-US" sz="17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733" dirty="0">
                <a:solidFill>
                  <a:srgbClr val="1E293B"/>
                </a:solidFill>
              </a:rPr>
              <a:t>li = each list item</a:t>
            </a:r>
            <a:endParaRPr lang="en-US" sz="17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733" dirty="0">
                <a:solidFill>
                  <a:srgbClr val="1E293B"/>
                </a:solidFill>
              </a:rPr>
              <a:t>Lists can be nested: put a ul inside an li</a:t>
            </a:r>
            <a:endParaRPr lang="en-US" sz="17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733" dirty="0">
                <a:solidFill>
                  <a:srgbClr val="1E293B"/>
                </a:solidFill>
              </a:rPr>
              <a:t>Menus on real websites are lists styled with CSS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6096000" y="1402080"/>
            <a:ext cx="5486400" cy="4815840"/>
          </a:xfrm>
          <a:prstGeom prst="roundRect">
            <a:avLst>
              <a:gd name="adj" fmla="val 2025"/>
            </a:avLst>
          </a:prstGeom>
          <a:solidFill>
            <a:srgbClr val="0B12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78880" y="152400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&lt;h3&gt;My Hobbies&lt;/h3&gt;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&lt;li&gt;Coding&lt;/li&gt;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&lt;li&gt;Music&lt;/li&gt;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&lt;/ul&gt;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&lt;h3&gt;Make Tea&lt;/h3&gt;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&lt;ol&gt;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&lt;li&gt;Boil water&lt;/li&gt;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&lt;li&gt;Add tea leaves&lt;/li&gt;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&lt;li&gt;Add milk&lt;/li&gt;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&lt;/ol&gt;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121920"/>
            <a:ext cx="92659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vs Inline, div and span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631680" y="341376"/>
            <a:ext cx="2072640" cy="414528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0F172A"/>
                </a:solidFill>
              </a:rPr>
              <a:t>Video 1</a:t>
            </a:r>
            <a:endParaRPr lang="en-US" sz="1467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402080"/>
            <a:ext cx="5242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733" dirty="0">
                <a:solidFill>
                  <a:srgbClr val="1E293B"/>
                </a:solidFill>
              </a:rPr>
              <a:t>Block elements start on a new line, full width: h1, p, div, ul</a:t>
            </a:r>
            <a:endParaRPr lang="en-US" sz="17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733" dirty="0">
                <a:solidFill>
                  <a:srgbClr val="1E293B"/>
                </a:solidFill>
              </a:rPr>
              <a:t>Inline elements stay in the line: a, span, strong, img</a:t>
            </a:r>
            <a:endParaRPr lang="en-US" sz="17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733" dirty="0">
                <a:solidFill>
                  <a:srgbClr val="1E293B"/>
                </a:solidFill>
              </a:rPr>
              <a:t>div = empty box to group things</a:t>
            </a:r>
            <a:endParaRPr lang="en-US" sz="17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733" dirty="0">
                <a:solidFill>
                  <a:srgbClr val="1E293B"/>
                </a:solidFill>
              </a:rPr>
              <a:t>span = small wrapper inside text</a:t>
            </a:r>
            <a:endParaRPr lang="en-US" sz="17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733" dirty="0">
                <a:solidFill>
                  <a:srgbClr val="1E293B"/>
                </a:solidFill>
              </a:rPr>
              <a:t>Comments: &lt;!-- note --&gt; are ignored by the browser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6096000" y="1402080"/>
            <a:ext cx="5486400" cy="4815840"/>
          </a:xfrm>
          <a:prstGeom prst="roundRect">
            <a:avLst>
              <a:gd name="adj" fmla="val 2025"/>
            </a:avLst>
          </a:prstGeom>
          <a:solidFill>
            <a:srgbClr val="0B12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78880" y="152400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&lt;h3&gt;Project 1&lt;/h3&gt;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&lt;p&gt;My &lt;span&gt;first&lt;/span&gt;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project.&lt;/p&gt;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&lt;h3&gt;Project 2&lt;/h3&gt;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&lt;p&gt;My second project.&lt;/p&gt;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this is a comment --&gt;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121920"/>
            <a:ext cx="92659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1: My Profile Page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631680" y="341376"/>
            <a:ext cx="2072640" cy="414528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0F172A"/>
                </a:solidFill>
              </a:rPr>
              <a:t>Video 1</a:t>
            </a:r>
            <a:endParaRPr lang="en-US" sz="1467" dirty="0"/>
          </a:p>
        </p:txBody>
      </p:sp>
      <p:sp>
        <p:nvSpPr>
          <p:cNvPr id="5" name="Shape 3"/>
          <p:cNvSpPr/>
          <p:nvPr/>
        </p:nvSpPr>
        <p:spPr>
          <a:xfrm>
            <a:off x="609600" y="1341120"/>
            <a:ext cx="5486400" cy="4876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3440" y="1438656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563EB"/>
                </a:solidFill>
              </a:rPr>
              <a:t>MUST INCLUDE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53440" y="1828800"/>
            <a:ext cx="4998720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533" dirty="0">
                <a:solidFill>
                  <a:srgbClr val="1E293B"/>
                </a:solidFill>
              </a:rPr>
              <a:t>profile.html with proper boilerplate and custom title</a:t>
            </a:r>
            <a:endParaRPr lang="en-US" sz="1533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533" dirty="0">
                <a:solidFill>
                  <a:srgbClr val="1E293B"/>
                </a:solidFill>
              </a:rPr>
              <a:t>One h1 with your name</a:t>
            </a:r>
            <a:endParaRPr lang="en-US" sz="1533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533" dirty="0">
                <a:solidFill>
                  <a:srgbClr val="1E293B"/>
                </a:solidFill>
              </a:rPr>
              <a:t>About Me: 2 paragraphs using strong and em</a:t>
            </a:r>
            <a:endParaRPr lang="en-US" sz="1533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533" dirty="0">
                <a:solidFill>
                  <a:srgbClr val="1E293B"/>
                </a:solidFill>
              </a:rPr>
              <a:t>Your photo with proper alt text</a:t>
            </a:r>
            <a:endParaRPr lang="en-US" sz="1533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533" dirty="0">
                <a:solidFill>
                  <a:srgbClr val="1E293B"/>
                </a:solidFill>
              </a:rPr>
              <a:t>My Skills (ul, 4+ items) and My Goals (ol, 3+ steps)</a:t>
            </a:r>
            <a:endParaRPr lang="en-US" sz="1533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533" dirty="0">
                <a:solidFill>
                  <a:srgbClr val="1E293B"/>
                </a:solidFill>
              </a:rPr>
              <a:t>Favourite Links: 3+ links, one in a new tab</a:t>
            </a:r>
            <a:endParaRPr lang="en-US" sz="1533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533" dirty="0">
                <a:solidFill>
                  <a:srgbClr val="1E293B"/>
                </a:solidFill>
              </a:rPr>
              <a:t>Second page about.html with links both ways</a:t>
            </a:r>
            <a:endParaRPr lang="en-US" sz="1533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533" dirty="0">
                <a:solidFill>
                  <a:srgbClr val="1E293B"/>
                </a:solidFill>
              </a:rPr>
              <a:t>At least one div and one comment</a:t>
            </a:r>
            <a:endParaRPr lang="en-US" sz="1533" dirty="0"/>
          </a:p>
        </p:txBody>
      </p:sp>
      <p:sp>
        <p:nvSpPr>
          <p:cNvPr id="8" name="Shape 6"/>
          <p:cNvSpPr/>
          <p:nvPr/>
        </p:nvSpPr>
        <p:spPr>
          <a:xfrm>
            <a:off x="6339840" y="1341120"/>
            <a:ext cx="5242560" cy="4876800"/>
          </a:xfrm>
          <a:prstGeom prst="roundRect">
            <a:avLst>
              <a:gd name="adj" fmla="val 2000"/>
            </a:avLst>
          </a:prstGeom>
          <a:solidFill>
            <a:srgbClr val="ECFEFF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4386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E7490"/>
                </a:solidFill>
              </a:rPr>
              <a:t>EXPLORE MORE (BONUS)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828800"/>
            <a:ext cx="4754880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533" dirty="0">
                <a:solidFill>
                  <a:srgbClr val="1E293B"/>
                </a:solidFill>
              </a:rPr>
              <a:t>dl, dt, dd description list for Education</a:t>
            </a:r>
            <a:endParaRPr lang="en-US" sz="1533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533" dirty="0">
                <a:solidFill>
                  <a:srgbClr val="1E293B"/>
                </a:solidFill>
              </a:rPr>
              <a:t>A nested list: Skills &gt; Frontend &gt; HTML, CSS</a:t>
            </a:r>
            <a:endParaRPr lang="en-US" sz="1533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533" dirty="0">
                <a:solidFill>
                  <a:srgbClr val="1E293B"/>
                </a:solidFill>
              </a:rPr>
              <a:t>abbr tag with a title</a:t>
            </a:r>
            <a:endParaRPr lang="en-US" sz="1533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533" dirty="0">
                <a:solidFill>
                  <a:srgbClr val="1E293B"/>
                </a:solidFill>
              </a:rPr>
              <a:t>blockquote for your favourite quote</a:t>
            </a:r>
            <a:endParaRPr lang="en-US" sz="1533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533" dirty="0">
                <a:solidFill>
                  <a:srgbClr val="1E293B"/>
                </a:solidFill>
              </a:rPr>
              <a:t>mailto: email link</a:t>
            </a:r>
            <a:endParaRPr lang="en-US" sz="1533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533" dirty="0">
                <a:solidFill>
                  <a:srgbClr val="1E293B"/>
                </a:solidFill>
              </a:rPr>
              <a:t>Q: strong vs b? Why only one h1? What does alt do?</a:t>
            </a:r>
            <a:endParaRPr lang="en-US" sz="15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936</Words>
  <Application>Microsoft Office PowerPoint</Application>
  <PresentationFormat>Widescreen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Prem Pravash Sahu</dc:creator>
  <cp:lastModifiedBy>Prem Pravash Sahu</cp:lastModifiedBy>
  <cp:revision>1</cp:revision>
  <dcterms:created xsi:type="dcterms:W3CDTF">2026-10-22T07:39:20Z</dcterms:created>
  <dcterms:modified xsi:type="dcterms:W3CDTF">2026-10-22T07:41:17Z</dcterms:modified>
</cp:coreProperties>
</file>